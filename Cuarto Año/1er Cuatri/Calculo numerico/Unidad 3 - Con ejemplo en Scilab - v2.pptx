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63" r:id="rId3"/>
    <p:sldId id="341" r:id="rId4"/>
    <p:sldId id="357" r:id="rId5"/>
    <p:sldId id="358" r:id="rId6"/>
    <p:sldId id="359" r:id="rId7"/>
    <p:sldId id="360" r:id="rId8"/>
    <p:sldId id="361" r:id="rId9"/>
    <p:sldId id="362" r:id="rId10"/>
    <p:sldId id="363" r:id="rId11"/>
    <p:sldId id="364" r:id="rId12"/>
    <p:sldId id="365" r:id="rId13"/>
    <p:sldId id="366" r:id="rId14"/>
    <p:sldId id="367" r:id="rId15"/>
  </p:sldIdLst>
  <p:sldSz cx="12192000" cy="6858000"/>
  <p:notesSz cx="6888163" cy="100203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D2F2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-62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79C3BE-CE61-439B-B79D-506ABDAB4D76}" type="datetimeFigureOut">
              <a:rPr lang="es-AR" smtClean="0"/>
              <a:pPr/>
              <a:t>06/04/2020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902075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1FCEE8-2BF1-44C3-B519-EAB2E8EC10FA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3347446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5A0F84-44C6-4B75-853A-313C07CC0A56}" type="datetimeFigureOut">
              <a:rPr lang="es-AR" smtClean="0"/>
              <a:pPr/>
              <a:t>06/04/2020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8975" y="4822825"/>
            <a:ext cx="5510213" cy="3944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02075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547590-A938-4BA6-84FF-47E7451E0468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13983356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7590-A938-4BA6-84FF-47E7451E0468}" type="slidenum">
              <a:rPr lang="es-AR" smtClean="0"/>
              <a:pPr/>
              <a:t>1</a:t>
            </a:fld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813149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7590-A938-4BA6-84FF-47E7451E0468}" type="slidenum">
              <a:rPr lang="es-AR" smtClean="0"/>
              <a:pPr/>
              <a:t>2</a:t>
            </a:fld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1743761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7590-A938-4BA6-84FF-47E7451E0468}" type="slidenum">
              <a:rPr lang="es-AR" smtClean="0"/>
              <a:pPr/>
              <a:t>3</a:t>
            </a:fld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42208801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7590-A938-4BA6-84FF-47E7451E0468}" type="slidenum">
              <a:rPr lang="es-AR" smtClean="0"/>
              <a:pPr/>
              <a:t>4</a:t>
            </a:fld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2273894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7590-A938-4BA6-84FF-47E7451E0468}" type="slidenum">
              <a:rPr lang="es-AR" smtClean="0"/>
              <a:pPr/>
              <a:t>5</a:t>
            </a:fld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22738940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7590-A938-4BA6-84FF-47E7451E0468}" type="slidenum">
              <a:rPr lang="es-AR" smtClean="0"/>
              <a:pPr/>
              <a:t>6</a:t>
            </a:fld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22738940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7590-A938-4BA6-84FF-47E7451E0468}" type="slidenum">
              <a:rPr lang="es-AR" smtClean="0"/>
              <a:pPr/>
              <a:t>7</a:t>
            </a:fld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2273894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7590-A938-4BA6-84FF-47E7451E0468}" type="slidenum">
              <a:rPr lang="es-AR" smtClean="0"/>
              <a:pPr/>
              <a:t>8</a:t>
            </a:fld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2273894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7590-A938-4BA6-84FF-47E7451E0468}" type="slidenum">
              <a:rPr lang="es-AR" smtClean="0"/>
              <a:pPr/>
              <a:t>9</a:t>
            </a:fld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2273894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7590-A938-4BA6-84FF-47E7451E0468}" type="slidenum">
              <a:rPr lang="es-AR" smtClean="0"/>
              <a:pPr/>
              <a:t>10</a:t>
            </a:fld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22738940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7590-A938-4BA6-84FF-47E7451E0468}" type="slidenum">
              <a:rPr lang="es-AR" smtClean="0"/>
              <a:pPr/>
              <a:t>11</a:t>
            </a:fld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22738940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7590-A938-4BA6-84FF-47E7451E0468}" type="slidenum">
              <a:rPr lang="es-AR" smtClean="0"/>
              <a:pPr/>
              <a:t>12</a:t>
            </a:fld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22738940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7590-A938-4BA6-84FF-47E7451E0468}" type="slidenum">
              <a:rPr lang="es-AR" smtClean="0"/>
              <a:pPr/>
              <a:t>13</a:t>
            </a:fld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22738940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7590-A938-4BA6-84FF-47E7451E0468}" type="slidenum">
              <a:rPr lang="es-AR" smtClean="0"/>
              <a:pPr/>
              <a:t>14</a:t>
            </a:fld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2273894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36AF-1874-4675-A11E-DE7FADFF49DF}" type="datetime1">
              <a:rPr lang="es-AR" smtClean="0"/>
              <a:pPr/>
              <a:t>06/04/2020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smtClean="0"/>
              <a:t>Cálculo Numérico - Unidad 1</a:t>
            </a:r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F797-1B48-4A88-892C-8BBF60BAA134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2786716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20B6-CAC7-412C-B485-4AA6B94344C9}" type="datetime1">
              <a:rPr lang="es-AR" smtClean="0"/>
              <a:pPr/>
              <a:t>06/04/2020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smtClean="0"/>
              <a:t>Cálculo Numérico - Unidad 1</a:t>
            </a:r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F797-1B48-4A88-892C-8BBF60BAA134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1024178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AD243-0981-435E-93EB-2ECC5C014F21}" type="datetime1">
              <a:rPr lang="es-AR" smtClean="0"/>
              <a:pPr/>
              <a:t>06/04/2020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smtClean="0"/>
              <a:t>Cálculo Numérico - Unidad 1</a:t>
            </a:r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F797-1B48-4A88-892C-8BBF60BAA134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2151535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993B3-FFAC-4557-9DF6-BAF17B2A471D}" type="datetime1">
              <a:rPr lang="es-AR" smtClean="0"/>
              <a:pPr/>
              <a:t>06/04/2020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smtClean="0"/>
              <a:t>Cálculo Numérico - Unidad 1</a:t>
            </a:r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F797-1B48-4A88-892C-8BBF60BAA134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2119988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DD58C-A52E-4CCA-81A1-1CD019963CFA}" type="datetime1">
              <a:rPr lang="es-AR" smtClean="0"/>
              <a:pPr/>
              <a:t>06/04/2020</a:t>
            </a:fld>
            <a:endParaRPr lang="es-A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smtClean="0"/>
              <a:t>Cálculo Numérico - Unidad 1</a:t>
            </a:r>
            <a:endParaRPr lang="es-A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F797-1B48-4A88-892C-8BBF60BAA134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2173410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FA8FC-B892-4909-B730-8DAFAD407F25}" type="datetime1">
              <a:rPr lang="es-AR" smtClean="0"/>
              <a:pPr/>
              <a:t>06/04/2020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smtClean="0"/>
              <a:t>Cálculo Numérico - Unidad 1</a:t>
            </a:r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F797-1B48-4A88-892C-8BBF60BAA134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2908302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60DDE-6403-426B-9704-FD97C04FEA4F}" type="datetime1">
              <a:rPr lang="es-AR" smtClean="0"/>
              <a:pPr/>
              <a:t>06/04/2020</a:t>
            </a:fld>
            <a:endParaRPr lang="es-A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smtClean="0"/>
              <a:t>Cálculo Numérico - Unidad 1</a:t>
            </a:r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F797-1B48-4A88-892C-8BBF60BAA134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1411618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CAE42-26C6-422B-85DD-6953D8B967E4}" type="datetime1">
              <a:rPr lang="es-AR" smtClean="0"/>
              <a:pPr/>
              <a:t>06/04/2020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smtClean="0"/>
              <a:t>Cálculo Numérico - Unidad 1</a:t>
            </a:r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F797-1B48-4A88-892C-8BBF60BAA134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727871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46979-A108-4B76-8074-302B480E5BB3}" type="datetime1">
              <a:rPr lang="es-AR" smtClean="0"/>
              <a:pPr/>
              <a:t>06/04/2020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smtClean="0"/>
              <a:t>Cálculo Numérico - Unidad 1</a:t>
            </a:r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F797-1B48-4A88-892C-8BBF60BAA134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3622446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60D0-2EA2-4B2C-8F26-C8F717A49AAA}" type="datetime1">
              <a:rPr lang="es-AR" smtClean="0"/>
              <a:pPr/>
              <a:t>06/04/2020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smtClean="0"/>
              <a:t>Cálculo Numérico - Unidad 1</a:t>
            </a:r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F797-1B48-4A88-892C-8BBF60BAA134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256182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079F8-44C9-407E-B6EF-0D9AEBED269A}" type="datetime1">
              <a:rPr lang="es-AR" smtClean="0"/>
              <a:pPr/>
              <a:t>06/04/2020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smtClean="0"/>
              <a:t>Cálculo Numérico - Unidad 1</a:t>
            </a:r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F797-1B48-4A88-892C-8BBF60BAA134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3357552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2721E-73CD-47E8-8AD8-BEF634B4AE2A}" type="datetime1">
              <a:rPr lang="es-AR" smtClean="0"/>
              <a:pPr/>
              <a:t>06/04/2020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AR" smtClean="0"/>
              <a:t>Cálculo Numérico - Unidad 1</a:t>
            </a:r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C5F797-1B48-4A88-892C-8BBF60BAA134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1169863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41667" y="1838009"/>
            <a:ext cx="12050332" cy="4382487"/>
          </a:xfrm>
        </p:spPr>
        <p:txBody>
          <a:bodyPr>
            <a:noAutofit/>
          </a:bodyPr>
          <a:lstStyle/>
          <a:p>
            <a:r>
              <a:rPr lang="es-E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Facultad</a:t>
            </a:r>
            <a:r>
              <a:rPr lang="es-A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de Ciencias </a:t>
            </a:r>
            <a:r>
              <a:rPr lang="es-AR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Económicas y de la Administración</a:t>
            </a:r>
            <a:r>
              <a:rPr lang="es-AR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/>
            </a:r>
            <a:br>
              <a:rPr lang="es-AR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</a:br>
            <a:r>
              <a:rPr lang="es-AR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/>
            </a:r>
            <a:br>
              <a:rPr lang="es-AR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</a:br>
            <a:r>
              <a:rPr lang="es-AR" sz="36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Ingeniería en Sistemas de la Información</a:t>
            </a:r>
            <a:r>
              <a:rPr lang="es-AR" sz="4000" dirty="0"/>
              <a:t/>
            </a:r>
            <a:br>
              <a:rPr lang="es-AR" sz="4000" dirty="0"/>
            </a:br>
            <a:r>
              <a:rPr lang="es-ES" sz="4400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 </a:t>
            </a:r>
            <a:r>
              <a:rPr lang="es-AR" sz="4400" dirty="0" smtClean="0"/>
              <a:t/>
            </a:r>
            <a:br>
              <a:rPr lang="es-AR" sz="4400" dirty="0" smtClean="0"/>
            </a:br>
            <a:r>
              <a:rPr lang="es-ES" sz="8000" b="1" dirty="0" smtClean="0">
                <a:solidFill>
                  <a:srgbClr val="7030A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French Script MT" panose="03020402040607040605" pitchFamily="66" charset="0"/>
              </a:rPr>
              <a:t>Cálculo Numérico</a:t>
            </a:r>
            <a:r>
              <a:rPr lang="es-AR" sz="5400" dirty="0"/>
              <a:t/>
            </a:r>
            <a:br>
              <a:rPr lang="es-AR" sz="5400" dirty="0"/>
            </a:br>
            <a:r>
              <a:rPr lang="es-AR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Unidad 3</a:t>
            </a:r>
            <a:r>
              <a:rPr lang="es-AR" sz="2400" dirty="0"/>
              <a:t/>
            </a:r>
            <a:br>
              <a:rPr lang="es-AR" sz="2400" dirty="0"/>
            </a:br>
            <a:endParaRPr lang="es-AR" sz="44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995359" y="5786035"/>
            <a:ext cx="5875416" cy="1655762"/>
          </a:xfrm>
        </p:spPr>
        <p:txBody>
          <a:bodyPr/>
          <a:lstStyle/>
          <a:p>
            <a:pPr algn="r"/>
            <a:r>
              <a:rPr lang="es-AR" sz="2800" u="sng" dirty="0" smtClean="0">
                <a:uFill>
                  <a:solidFill>
                    <a:srgbClr val="7030A0"/>
                  </a:solidFill>
                </a:uFill>
                <a:latin typeface="+mj-lt"/>
              </a:rPr>
              <a:t>Profesor:</a:t>
            </a:r>
            <a:r>
              <a:rPr lang="es-AR" sz="2800" i="1" dirty="0" smtClean="0">
                <a:uFill>
                  <a:solidFill>
                    <a:srgbClr val="0070C0"/>
                  </a:solidFill>
                </a:uFill>
                <a:latin typeface="+mj-lt"/>
              </a:rPr>
              <a:t> </a:t>
            </a:r>
            <a:r>
              <a:rPr lang="es-AR" sz="2800" i="1" dirty="0" smtClean="0">
                <a:latin typeface="+mj-lt"/>
              </a:rPr>
              <a:t>Rafael Vargas</a:t>
            </a:r>
            <a:endParaRPr lang="es-AR" sz="2800" dirty="0">
              <a:latin typeface="+mj-lt"/>
            </a:endParaRPr>
          </a:p>
          <a:p>
            <a:pPr algn="r"/>
            <a:r>
              <a:rPr lang="es-AR" sz="2800" u="sng" dirty="0">
                <a:uFill>
                  <a:solidFill>
                    <a:srgbClr val="7030A0"/>
                  </a:solidFill>
                </a:uFill>
                <a:latin typeface="+mj-lt"/>
              </a:rPr>
              <a:t>Año:</a:t>
            </a:r>
            <a:r>
              <a:rPr lang="es-AR" sz="2800" dirty="0">
                <a:uFill>
                  <a:solidFill>
                    <a:srgbClr val="0070C0"/>
                  </a:solidFill>
                </a:uFill>
                <a:latin typeface="+mj-lt"/>
              </a:rPr>
              <a:t> </a:t>
            </a:r>
            <a:r>
              <a:rPr lang="es-AR" sz="2800" dirty="0" smtClean="0">
                <a:latin typeface="+mj-lt"/>
              </a:rPr>
              <a:t>2020</a:t>
            </a:r>
            <a:endParaRPr lang="es-AR" sz="2800" dirty="0">
              <a:latin typeface="+mj-lt"/>
            </a:endParaRPr>
          </a:p>
          <a:p>
            <a:endParaRPr lang="es-AR" dirty="0"/>
          </a:p>
        </p:txBody>
      </p:sp>
      <p:pic>
        <p:nvPicPr>
          <p:cNvPr id="5" name="Picture 2" descr="Resultado de imagen para universidad adventista del plata logo"/>
          <p:cNvPicPr/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8731" y="241804"/>
            <a:ext cx="1596205" cy="1596205"/>
          </a:xfrm>
          <a:prstGeom prst="rect">
            <a:avLst/>
          </a:prstGeom>
          <a:noFill/>
          <a:extLst/>
        </p:spPr>
      </p:pic>
    </p:spTree>
    <p:extLst>
      <p:ext uri="{BB962C8B-B14F-4D97-AF65-F5344CB8AC3E}">
        <p14:creationId xmlns="" xmlns:p14="http://schemas.microsoft.com/office/powerpoint/2010/main" val="2901658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Rounded MT Bold" panose="020F0704030504030204" pitchFamily="34" charset="0"/>
              </a:rPr>
              <a:t>Cálculo Numérico - Contenidos</a:t>
            </a:r>
            <a:endParaRPr lang="es-AR" dirty="0">
              <a:solidFill>
                <a:schemeClr val="tx1">
                  <a:lumMod val="50000"/>
                  <a:lumOff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12" name="Tabla 1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40829176"/>
              </p:ext>
            </p:extLst>
          </p:nvPr>
        </p:nvGraphicFramePr>
        <p:xfrm>
          <a:off x="0" y="1324928"/>
          <a:ext cx="12192000" cy="19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397"/>
                <a:gridCol w="283335"/>
                <a:gridCol w="11419268"/>
              </a:tblGrid>
              <a:tr h="117506"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rgbClr val="E4D2F2"/>
                    </a:solidFill>
                  </a:tcPr>
                </a:tc>
              </a:tr>
            </a:tbl>
          </a:graphicData>
        </a:graphic>
      </p:graphicFrame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F797-1B48-4A88-892C-8BBF60BAA134}" type="slidenum">
              <a:rPr lang="es-AR" smtClean="0"/>
              <a:pPr/>
              <a:t>2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 smtClean="0"/>
              <a:t>Cálculo Numérico - Unidad 3</a:t>
            </a:r>
            <a:endParaRPr lang="es-AR" dirty="0"/>
          </a:p>
        </p:txBody>
      </p:sp>
      <p:sp>
        <p:nvSpPr>
          <p:cNvPr id="8" name="Marcador de contenido 2"/>
          <p:cNvSpPr>
            <a:spLocks noGrp="1"/>
          </p:cNvSpPr>
          <p:nvPr>
            <p:ph idx="1"/>
          </p:nvPr>
        </p:nvSpPr>
        <p:spPr>
          <a:xfrm>
            <a:off x="1166983" y="1974023"/>
            <a:ext cx="10810369" cy="45942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dirty="0" smtClean="0">
                <a:solidFill>
                  <a:srgbClr val="7030A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+mj-lt"/>
                <a:sym typeface="Wingdings 2" panose="05020102010507070707" pitchFamily="18" charset="2"/>
              </a:rPr>
              <a:t></a:t>
            </a:r>
            <a:r>
              <a:rPr lang="es-AR" dirty="0" smtClean="0">
                <a:solidFill>
                  <a:srgbClr val="0070C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+mj-lt"/>
                <a:sym typeface="Wingdings 2" panose="05020102010507070707" pitchFamily="18" charset="2"/>
              </a:rPr>
              <a:t> </a:t>
            </a:r>
            <a:r>
              <a:rPr lang="es-AR" b="1" u="sng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+mj-lt"/>
                <a:sym typeface="Wingdings 2" panose="05020102010507070707" pitchFamily="18" charset="2"/>
              </a:rPr>
              <a:t>Unidad 3</a:t>
            </a:r>
            <a:r>
              <a:rPr lang="es-AR" b="1" u="sng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: Resolución de sistemas de ecuaciones no lineales</a:t>
            </a:r>
          </a:p>
          <a:p>
            <a:pPr marL="0" indent="0" algn="just">
              <a:buNone/>
            </a:pPr>
            <a:r>
              <a:rPr lang="es-AR" sz="2400" dirty="0" smtClean="0">
                <a:latin typeface="+mj-lt"/>
              </a:rPr>
              <a:t>Revisión de sistemas de ecuaciones no lineales, Método de Newton-</a:t>
            </a:r>
            <a:r>
              <a:rPr lang="es-AR" sz="2400" dirty="0" err="1" smtClean="0">
                <a:latin typeface="+mj-lt"/>
              </a:rPr>
              <a:t>Raphson</a:t>
            </a:r>
            <a:endParaRPr lang="es-AR" sz="2400" dirty="0">
              <a:latin typeface="+mj-lt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34684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Rounded MT Bold" panose="020F0704030504030204" pitchFamily="34" charset="0"/>
              </a:rPr>
              <a:t>Sistemas de Ecuaciones</a:t>
            </a:r>
            <a:endParaRPr lang="es-AR" dirty="0">
              <a:solidFill>
                <a:schemeClr val="tx1">
                  <a:lumMod val="50000"/>
                  <a:lumOff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12" name="Tabla 1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40829176"/>
              </p:ext>
            </p:extLst>
          </p:nvPr>
        </p:nvGraphicFramePr>
        <p:xfrm>
          <a:off x="0" y="1324928"/>
          <a:ext cx="12192000" cy="19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397"/>
                <a:gridCol w="283335"/>
                <a:gridCol w="11419268"/>
              </a:tblGrid>
              <a:tr h="117506"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rgbClr val="E4D2F2"/>
                    </a:solidFill>
                  </a:tcPr>
                </a:tc>
              </a:tr>
            </a:tbl>
          </a:graphicData>
        </a:graphic>
      </p:graphicFrame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F797-1B48-4A88-892C-8BBF60BAA134}" type="slidenum">
              <a:rPr lang="es-AR" smtClean="0"/>
              <a:pPr/>
              <a:t>3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 smtClean="0"/>
              <a:t>Cálculo Numérico - Unidad 3</a:t>
            </a:r>
            <a:endParaRPr lang="es-A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 t="8543" b="8916"/>
          <a:stretch>
            <a:fillRect/>
          </a:stretch>
        </p:blipFill>
        <p:spPr bwMode="auto">
          <a:xfrm>
            <a:off x="2448869" y="1711231"/>
            <a:ext cx="7532865" cy="4232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69304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Rounded MT Bold" panose="020F0704030504030204" pitchFamily="34" charset="0"/>
              </a:rPr>
              <a:t>Sistemas de Ecuaciones No Lineales</a:t>
            </a:r>
            <a:endParaRPr lang="es-AR" dirty="0">
              <a:solidFill>
                <a:schemeClr val="tx1">
                  <a:lumMod val="50000"/>
                  <a:lumOff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12" name="Tabla 1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40829176"/>
              </p:ext>
            </p:extLst>
          </p:nvPr>
        </p:nvGraphicFramePr>
        <p:xfrm>
          <a:off x="0" y="1324928"/>
          <a:ext cx="12192000" cy="19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397"/>
                <a:gridCol w="283335"/>
                <a:gridCol w="11419268"/>
              </a:tblGrid>
              <a:tr h="117506"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rgbClr val="E4D2F2"/>
                    </a:solidFill>
                  </a:tcPr>
                </a:tc>
              </a:tr>
            </a:tbl>
          </a:graphicData>
        </a:graphic>
      </p:graphicFrame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F797-1B48-4A88-892C-8BBF60BAA134}" type="slidenum">
              <a:rPr lang="es-AR" smtClean="0"/>
              <a:pPr/>
              <a:t>4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 smtClean="0"/>
              <a:t>Cálculo Numérico - Unidad 3</a:t>
            </a:r>
            <a:endParaRPr lang="es-A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 l="12247" t="92254" r="69241" b="436"/>
          <a:stretch>
            <a:fillRect/>
          </a:stretch>
        </p:blipFill>
        <p:spPr bwMode="auto">
          <a:xfrm>
            <a:off x="5355781" y="1763480"/>
            <a:ext cx="2186748" cy="587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 l="8723" t="36072" r="62993"/>
          <a:stretch>
            <a:fillRect/>
          </a:stretch>
        </p:blipFill>
        <p:spPr bwMode="auto">
          <a:xfrm>
            <a:off x="5342733" y="2325187"/>
            <a:ext cx="2761569" cy="6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8 CuadroTexto"/>
          <p:cNvSpPr txBox="1"/>
          <p:nvPr/>
        </p:nvSpPr>
        <p:spPr>
          <a:xfrm>
            <a:off x="3618437" y="1985557"/>
            <a:ext cx="13846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solidFill>
                  <a:srgbClr val="FF0000"/>
                </a:solidFill>
              </a:rPr>
              <a:t>Ejemplo de Sistema No Lineal</a:t>
            </a:r>
            <a:endParaRPr lang="es-AR" dirty="0">
              <a:solidFill>
                <a:srgbClr val="FF0000"/>
              </a:solidFill>
            </a:endParaRPr>
          </a:p>
        </p:txBody>
      </p:sp>
      <p:sp>
        <p:nvSpPr>
          <p:cNvPr id="10" name="9 Abrir llave"/>
          <p:cNvSpPr/>
          <p:nvPr/>
        </p:nvSpPr>
        <p:spPr>
          <a:xfrm>
            <a:off x="5042272" y="1854928"/>
            <a:ext cx="235131" cy="1149531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618706" y="3397567"/>
            <a:ext cx="9040587" cy="678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/>
          <a:srcRect r="57412"/>
          <a:stretch>
            <a:fillRect/>
          </a:stretch>
        </p:blipFill>
        <p:spPr bwMode="auto">
          <a:xfrm>
            <a:off x="3892729" y="4367621"/>
            <a:ext cx="3944985" cy="883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13 Abrir llave"/>
          <p:cNvSpPr/>
          <p:nvPr/>
        </p:nvSpPr>
        <p:spPr>
          <a:xfrm>
            <a:off x="4319460" y="4371707"/>
            <a:ext cx="213351" cy="971004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="" xmlns:p14="http://schemas.microsoft.com/office/powerpoint/2010/main" val="277541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Rounded MT Bold" panose="020F0704030504030204" pitchFamily="34" charset="0"/>
              </a:rPr>
              <a:t>Sistemas de Ecuaciones No Lineales</a:t>
            </a:r>
            <a:endParaRPr lang="es-AR" dirty="0">
              <a:solidFill>
                <a:schemeClr val="tx1">
                  <a:lumMod val="50000"/>
                  <a:lumOff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12" name="Tabla 1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40829176"/>
              </p:ext>
            </p:extLst>
          </p:nvPr>
        </p:nvGraphicFramePr>
        <p:xfrm>
          <a:off x="0" y="1324928"/>
          <a:ext cx="12192000" cy="19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397"/>
                <a:gridCol w="283335"/>
                <a:gridCol w="11419268"/>
              </a:tblGrid>
              <a:tr h="117506"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rgbClr val="E4D2F2"/>
                    </a:solidFill>
                  </a:tcPr>
                </a:tc>
              </a:tr>
            </a:tbl>
          </a:graphicData>
        </a:graphic>
      </p:graphicFrame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F797-1B48-4A88-892C-8BBF60BAA134}" type="slidenum">
              <a:rPr lang="es-AR" smtClean="0"/>
              <a:pPr/>
              <a:t>5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 smtClean="0"/>
              <a:t>Cálculo Numérico - Unidad 3</a:t>
            </a:r>
            <a:endParaRPr lang="es-AR" dirty="0"/>
          </a:p>
        </p:txBody>
      </p:sp>
      <p:sp>
        <p:nvSpPr>
          <p:cNvPr id="11" name="10 Abrir llave"/>
          <p:cNvSpPr/>
          <p:nvPr/>
        </p:nvSpPr>
        <p:spPr>
          <a:xfrm>
            <a:off x="4437157" y="1854928"/>
            <a:ext cx="235131" cy="1149531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69013" y="1926092"/>
            <a:ext cx="3588818" cy="98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/>
          <a:srcRect b="49236"/>
          <a:stretch>
            <a:fillRect/>
          </a:stretch>
        </p:blipFill>
        <p:spPr bwMode="auto">
          <a:xfrm>
            <a:off x="1700771" y="3357281"/>
            <a:ext cx="8822508" cy="596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/>
          <a:srcRect t="45802" r="28030" b="24426"/>
          <a:stretch>
            <a:fillRect/>
          </a:stretch>
        </p:blipFill>
        <p:spPr bwMode="auto">
          <a:xfrm>
            <a:off x="1718701" y="3886203"/>
            <a:ext cx="6349535" cy="349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77541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Rounded MT Bold" panose="020F0704030504030204" pitchFamily="34" charset="0"/>
              </a:rPr>
              <a:t>Método de Newton-</a:t>
            </a:r>
            <a:r>
              <a:rPr lang="es-ES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Rounded MT Bold" panose="020F0704030504030204" pitchFamily="34" charset="0"/>
              </a:rPr>
              <a:t>Raphson</a:t>
            </a:r>
            <a:endParaRPr lang="es-AR" dirty="0">
              <a:solidFill>
                <a:schemeClr val="tx1">
                  <a:lumMod val="50000"/>
                  <a:lumOff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12" name="Tabla 1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40829176"/>
              </p:ext>
            </p:extLst>
          </p:nvPr>
        </p:nvGraphicFramePr>
        <p:xfrm>
          <a:off x="0" y="1324928"/>
          <a:ext cx="12192000" cy="19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397"/>
                <a:gridCol w="283335"/>
                <a:gridCol w="11419268"/>
              </a:tblGrid>
              <a:tr h="117506"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rgbClr val="E4D2F2"/>
                    </a:solidFill>
                  </a:tcPr>
                </a:tc>
              </a:tr>
            </a:tbl>
          </a:graphicData>
        </a:graphic>
      </p:graphicFrame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F797-1B48-4A88-892C-8BBF60BAA134}" type="slidenum">
              <a:rPr lang="es-AR" smtClean="0"/>
              <a:pPr/>
              <a:t>6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 smtClean="0"/>
              <a:t>Cálculo Numérico - Unidad 3</a:t>
            </a:r>
            <a:endParaRPr lang="es-AR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76994" y="2695440"/>
            <a:ext cx="7667899" cy="3369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30867" y="1756002"/>
            <a:ext cx="7703309" cy="1000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77541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Rounded MT Bold" panose="020F0704030504030204" pitchFamily="34" charset="0"/>
              </a:rPr>
              <a:t>Método de Newton-</a:t>
            </a:r>
            <a:r>
              <a:rPr lang="es-ES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Rounded MT Bold" panose="020F0704030504030204" pitchFamily="34" charset="0"/>
              </a:rPr>
              <a:t>Raphson</a:t>
            </a:r>
            <a:endParaRPr lang="es-AR" dirty="0">
              <a:solidFill>
                <a:schemeClr val="tx1">
                  <a:lumMod val="50000"/>
                  <a:lumOff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12" name="Tabla 1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40829176"/>
              </p:ext>
            </p:extLst>
          </p:nvPr>
        </p:nvGraphicFramePr>
        <p:xfrm>
          <a:off x="0" y="1324928"/>
          <a:ext cx="12192000" cy="19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397"/>
                <a:gridCol w="283335"/>
                <a:gridCol w="11419268"/>
              </a:tblGrid>
              <a:tr h="117506"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rgbClr val="E4D2F2"/>
                    </a:solidFill>
                  </a:tcPr>
                </a:tc>
              </a:tr>
            </a:tbl>
          </a:graphicData>
        </a:graphic>
      </p:graphicFrame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F797-1B48-4A88-892C-8BBF60BAA134}" type="slidenum">
              <a:rPr lang="es-AR" smtClean="0"/>
              <a:pPr/>
              <a:t>7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 smtClean="0"/>
              <a:t>Cálculo Numérico - Unidad 3</a:t>
            </a:r>
            <a:endParaRPr lang="es-AR" dirty="0"/>
          </a:p>
        </p:txBody>
      </p:sp>
      <p:sp>
        <p:nvSpPr>
          <p:cNvPr id="8" name="7 CuadroTexto"/>
          <p:cNvSpPr txBox="1"/>
          <p:nvPr/>
        </p:nvSpPr>
        <p:spPr>
          <a:xfrm>
            <a:off x="1175656" y="4245428"/>
            <a:ext cx="97710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Donde:</a:t>
            </a:r>
          </a:p>
          <a:p>
            <a:r>
              <a:rPr lang="es-AR" dirty="0" smtClean="0"/>
              <a:t>X =  Vector Columna cuyos elementos son las variables del sistema original: x1, x2, x3, … , </a:t>
            </a:r>
            <a:r>
              <a:rPr lang="es-AR" dirty="0" err="1" smtClean="0"/>
              <a:t>xN</a:t>
            </a:r>
            <a:endParaRPr lang="es-AR" dirty="0" smtClean="0"/>
          </a:p>
          <a:p>
            <a:r>
              <a:rPr lang="es-AR" dirty="0" smtClean="0"/>
              <a:t>F =  Función Vectorial, que toma el vector X, y devuelve otro vector, cuyos elementos son el valor de las funciones del sistema original: f1(x1, x2, …, </a:t>
            </a:r>
            <a:r>
              <a:rPr lang="es-AR" dirty="0" err="1" smtClean="0"/>
              <a:t>xn</a:t>
            </a:r>
            <a:r>
              <a:rPr lang="es-AR" dirty="0" smtClean="0"/>
              <a:t>); f2(x1, x2, …, </a:t>
            </a:r>
            <a:r>
              <a:rPr lang="es-AR" dirty="0" err="1" smtClean="0"/>
              <a:t>xn</a:t>
            </a:r>
            <a:r>
              <a:rPr lang="es-AR" dirty="0" smtClean="0"/>
              <a:t>); … ; </a:t>
            </a:r>
            <a:r>
              <a:rPr lang="es-AR" dirty="0" err="1" smtClean="0"/>
              <a:t>fn</a:t>
            </a:r>
            <a:r>
              <a:rPr lang="es-AR" dirty="0" smtClean="0"/>
              <a:t>(x1, x2, …, </a:t>
            </a:r>
            <a:r>
              <a:rPr lang="es-AR" dirty="0" err="1" smtClean="0"/>
              <a:t>xn</a:t>
            </a:r>
            <a:r>
              <a:rPr lang="es-AR" dirty="0" smtClean="0"/>
              <a:t>)</a:t>
            </a:r>
          </a:p>
          <a:p>
            <a:r>
              <a:rPr lang="es-AR" dirty="0" smtClean="0"/>
              <a:t>0 = El vector nulo, es decir un vector cuyos elementos son todos ceros.</a:t>
            </a:r>
            <a:endParaRPr lang="es-AR" dirty="0"/>
          </a:p>
        </p:txBody>
      </p:sp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32811" y="3122023"/>
            <a:ext cx="1734093" cy="587828"/>
          </a:xfrm>
          <a:prstGeom prst="rect">
            <a:avLst/>
          </a:prstGeom>
          <a:noFill/>
        </p:spPr>
      </p:pic>
      <p:sp>
        <p:nvSpPr>
          <p:cNvPr id="11" name="10 CuadroTexto"/>
          <p:cNvSpPr txBox="1"/>
          <p:nvPr/>
        </p:nvSpPr>
        <p:spPr>
          <a:xfrm>
            <a:off x="1249679" y="2046488"/>
            <a:ext cx="97187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En la bibliografía suele recurrirse a la notación matricial para escribir los sistemas y las formulas recursivas de forma más compacta.</a:t>
            </a:r>
          </a:p>
          <a:p>
            <a:r>
              <a:rPr lang="es-AR" dirty="0" smtClean="0"/>
              <a:t>De este modo un sistema de N ecuaciones como el (6.14) puede escribirse en una sola ecuación.</a:t>
            </a:r>
            <a:endParaRPr lang="es-AR" dirty="0"/>
          </a:p>
        </p:txBody>
      </p:sp>
    </p:spTree>
    <p:extLst>
      <p:ext uri="{BB962C8B-B14F-4D97-AF65-F5344CB8AC3E}">
        <p14:creationId xmlns="" xmlns:p14="http://schemas.microsoft.com/office/powerpoint/2010/main" val="277541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Rounded MT Bold" panose="020F0704030504030204" pitchFamily="34" charset="0"/>
              </a:rPr>
              <a:t>Método de Newton-</a:t>
            </a:r>
            <a:r>
              <a:rPr lang="es-ES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Rounded MT Bold" panose="020F0704030504030204" pitchFamily="34" charset="0"/>
              </a:rPr>
              <a:t>Raphson</a:t>
            </a:r>
            <a:endParaRPr lang="es-AR" dirty="0">
              <a:solidFill>
                <a:schemeClr val="tx1">
                  <a:lumMod val="50000"/>
                  <a:lumOff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12" name="Tabla 1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40829176"/>
              </p:ext>
            </p:extLst>
          </p:nvPr>
        </p:nvGraphicFramePr>
        <p:xfrm>
          <a:off x="0" y="1324928"/>
          <a:ext cx="12192000" cy="19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397"/>
                <a:gridCol w="283335"/>
                <a:gridCol w="11419268"/>
              </a:tblGrid>
              <a:tr h="117506"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rgbClr val="E4D2F2"/>
                    </a:solidFill>
                  </a:tcPr>
                </a:tc>
              </a:tr>
            </a:tbl>
          </a:graphicData>
        </a:graphic>
      </p:graphicFrame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F797-1B48-4A88-892C-8BBF60BAA134}" type="slidenum">
              <a:rPr lang="es-AR" smtClean="0"/>
              <a:pPr/>
              <a:t>8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 smtClean="0"/>
              <a:t>Cálculo Numérico - Unidad 3</a:t>
            </a:r>
            <a:endParaRPr lang="es-AR" dirty="0"/>
          </a:p>
        </p:txBody>
      </p:sp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1" name="10 CuadroTexto"/>
          <p:cNvSpPr txBox="1"/>
          <p:nvPr/>
        </p:nvSpPr>
        <p:spPr>
          <a:xfrm>
            <a:off x="1249679" y="2046488"/>
            <a:ext cx="9718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Por otra parte la forma matricial de la formula recursiva de Newton –</a:t>
            </a:r>
            <a:r>
              <a:rPr lang="es-AR" dirty="0" err="1" smtClean="0"/>
              <a:t>Raphson</a:t>
            </a:r>
            <a:r>
              <a:rPr lang="es-AR" dirty="0" smtClean="0"/>
              <a:t> es la siguiente.</a:t>
            </a:r>
            <a:endParaRPr lang="es-AR" dirty="0"/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pic>
        <p:nvPicPr>
          <p:cNvPr id="30721" name="Picture 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38697" y="3017520"/>
            <a:ext cx="6163154" cy="613954"/>
          </a:xfrm>
          <a:prstGeom prst="rect">
            <a:avLst/>
          </a:prstGeom>
          <a:noFill/>
        </p:spPr>
      </p:pic>
      <p:sp>
        <p:nvSpPr>
          <p:cNvPr id="13" name="12 CuadroTexto"/>
          <p:cNvSpPr txBox="1"/>
          <p:nvPr/>
        </p:nvSpPr>
        <p:spPr>
          <a:xfrm>
            <a:off x="1271451" y="3988499"/>
            <a:ext cx="97187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Donde:</a:t>
            </a:r>
          </a:p>
          <a:p>
            <a:r>
              <a:rPr lang="es-AR" dirty="0" smtClean="0"/>
              <a:t>Xi = Estimación actual del vector X que satisface la ecuación </a:t>
            </a:r>
            <a:r>
              <a:rPr lang="es-AR" b="1" dirty="0" smtClean="0"/>
              <a:t>F</a:t>
            </a:r>
            <a:r>
              <a:rPr lang="es-AR" dirty="0" smtClean="0"/>
              <a:t>(X) = </a:t>
            </a:r>
            <a:r>
              <a:rPr lang="es-AR" b="1" dirty="0" smtClean="0"/>
              <a:t>0</a:t>
            </a:r>
            <a:r>
              <a:rPr lang="es-AR" dirty="0" smtClean="0"/>
              <a:t>.</a:t>
            </a:r>
          </a:p>
          <a:p>
            <a:r>
              <a:rPr lang="es-AR" dirty="0" smtClean="0"/>
              <a:t>Xi+1 = Nueva estimación del vector X</a:t>
            </a:r>
          </a:p>
          <a:p>
            <a:r>
              <a:rPr lang="es-AR" dirty="0" err="1" smtClean="0"/>
              <a:t>Jacoviano</a:t>
            </a:r>
            <a:r>
              <a:rPr lang="es-AR" dirty="0" smtClean="0"/>
              <a:t>() = Una matriz formada por las derivadas de parciales de las funciones que componen F(X).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="" xmlns:p14="http://schemas.microsoft.com/office/powerpoint/2010/main" val="277541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Rounded MT Bold" panose="020F0704030504030204" pitchFamily="34" charset="0"/>
              </a:rPr>
              <a:t>Jacobiano</a:t>
            </a:r>
            <a:endParaRPr lang="es-AR" dirty="0">
              <a:solidFill>
                <a:schemeClr val="tx1">
                  <a:lumMod val="50000"/>
                  <a:lumOff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12" name="Tabla 1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40829176"/>
              </p:ext>
            </p:extLst>
          </p:nvPr>
        </p:nvGraphicFramePr>
        <p:xfrm>
          <a:off x="0" y="1324928"/>
          <a:ext cx="12192000" cy="19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397"/>
                <a:gridCol w="283335"/>
                <a:gridCol w="11419268"/>
              </a:tblGrid>
              <a:tr h="117506"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rgbClr val="E4D2F2"/>
                    </a:solidFill>
                  </a:tcPr>
                </a:tc>
              </a:tr>
            </a:tbl>
          </a:graphicData>
        </a:graphic>
      </p:graphicFrame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F797-1B48-4A88-892C-8BBF60BAA134}" type="slidenum">
              <a:rPr lang="es-AR" smtClean="0"/>
              <a:pPr/>
              <a:t>9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 smtClean="0"/>
              <a:t>Cálculo Numérico - Unidad 3</a:t>
            </a:r>
            <a:endParaRPr lang="es-AR" dirty="0"/>
          </a:p>
        </p:txBody>
      </p:sp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1" name="10 CuadroTexto"/>
          <p:cNvSpPr txBox="1"/>
          <p:nvPr/>
        </p:nvSpPr>
        <p:spPr>
          <a:xfrm>
            <a:off x="1249679" y="2046488"/>
            <a:ext cx="9718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Supongamos que tenemos un sistema de N ecuaciones (6.14). Entonces el </a:t>
            </a:r>
            <a:r>
              <a:rPr lang="es-AR" dirty="0" err="1" smtClean="0"/>
              <a:t>Jacobiano</a:t>
            </a:r>
            <a:r>
              <a:rPr lang="es-AR" dirty="0" smtClean="0"/>
              <a:t> </a:t>
            </a:r>
            <a:r>
              <a:rPr lang="es-AR" dirty="0" smtClean="0"/>
              <a:t>asociado a dicho conjunto estará dado por la siguiente formula:</a:t>
            </a:r>
            <a:endParaRPr lang="es-AR" dirty="0"/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984172" y="3540033"/>
            <a:ext cx="3703168" cy="13846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77541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Rounded MT Bold" panose="020F0704030504030204" pitchFamily="34" charset="0"/>
              </a:rPr>
              <a:t>Ejemplo: Método de Newton-</a:t>
            </a:r>
            <a:r>
              <a:rPr lang="es-ES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Rounded MT Bold" panose="020F0704030504030204" pitchFamily="34" charset="0"/>
              </a:rPr>
              <a:t>Raphson</a:t>
            </a:r>
            <a:endParaRPr lang="es-AR" dirty="0">
              <a:solidFill>
                <a:schemeClr val="tx1">
                  <a:lumMod val="50000"/>
                  <a:lumOff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12" name="Tabla 1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40829176"/>
              </p:ext>
            </p:extLst>
          </p:nvPr>
        </p:nvGraphicFramePr>
        <p:xfrm>
          <a:off x="0" y="1324928"/>
          <a:ext cx="12192000" cy="19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397"/>
                <a:gridCol w="283335"/>
                <a:gridCol w="11419268"/>
              </a:tblGrid>
              <a:tr h="117506"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rgbClr val="E4D2F2"/>
                    </a:solidFill>
                  </a:tcPr>
                </a:tc>
              </a:tr>
            </a:tbl>
          </a:graphicData>
        </a:graphic>
      </p:graphicFrame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F797-1B48-4A88-892C-8BBF60BAA134}" type="slidenum">
              <a:rPr lang="es-AR" smtClean="0"/>
              <a:pPr/>
              <a:t>10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 smtClean="0"/>
              <a:t>Cálculo Numérico - Unidad 3</a:t>
            </a:r>
            <a:endParaRPr lang="es-AR" dirty="0"/>
          </a:p>
        </p:txBody>
      </p:sp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1" name="10 CuadroTexto"/>
          <p:cNvSpPr txBox="1"/>
          <p:nvPr/>
        </p:nvSpPr>
        <p:spPr>
          <a:xfrm>
            <a:off x="1249679" y="2046488"/>
            <a:ext cx="9718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Supongamos que tenemos un sistema de </a:t>
            </a:r>
            <a:r>
              <a:rPr lang="es-AR" dirty="0" smtClean="0"/>
              <a:t>dos ecuaciones dadas por:</a:t>
            </a:r>
            <a:endParaRPr lang="es-AR" dirty="0"/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4" name="13 CuadroTexto"/>
          <p:cNvSpPr txBox="1"/>
          <p:nvPr/>
        </p:nvSpPr>
        <p:spPr>
          <a:xfrm>
            <a:off x="1284512" y="3766427"/>
            <a:ext cx="9718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Luego, operando algebraicamente podemos expresarlas como una igualdad a 0 a ambas ecuaciones:</a:t>
            </a:r>
            <a:endParaRPr lang="es-AR" dirty="0"/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741818" y="2808514"/>
            <a:ext cx="1478222" cy="692332"/>
          </a:xfrm>
          <a:prstGeom prst="rect">
            <a:avLst/>
          </a:prstGeom>
          <a:noFill/>
        </p:spPr>
      </p:pic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pic>
        <p:nvPicPr>
          <p:cNvPr id="34821" name="Picture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480560" y="4598126"/>
            <a:ext cx="2075935" cy="7315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77541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Rounded MT Bold" panose="020F0704030504030204" pitchFamily="34" charset="0"/>
              </a:rPr>
              <a:t>Ejemplo: Método de Newton-</a:t>
            </a:r>
            <a:r>
              <a:rPr lang="es-ES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Rounded MT Bold" panose="020F0704030504030204" pitchFamily="34" charset="0"/>
              </a:rPr>
              <a:t>Raphson</a:t>
            </a:r>
            <a:endParaRPr lang="es-AR" dirty="0">
              <a:solidFill>
                <a:schemeClr val="tx1">
                  <a:lumMod val="50000"/>
                  <a:lumOff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12" name="Tabla 1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40829176"/>
              </p:ext>
            </p:extLst>
          </p:nvPr>
        </p:nvGraphicFramePr>
        <p:xfrm>
          <a:off x="0" y="1324928"/>
          <a:ext cx="12192000" cy="19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397"/>
                <a:gridCol w="283335"/>
                <a:gridCol w="11419268"/>
              </a:tblGrid>
              <a:tr h="117506"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rgbClr val="E4D2F2"/>
                    </a:solidFill>
                  </a:tcPr>
                </a:tc>
              </a:tr>
            </a:tbl>
          </a:graphicData>
        </a:graphic>
      </p:graphicFrame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F797-1B48-4A88-892C-8BBF60BAA134}" type="slidenum">
              <a:rPr lang="es-AR" smtClean="0"/>
              <a:pPr/>
              <a:t>11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 smtClean="0"/>
              <a:t>Cálculo Numérico - Unidad 3</a:t>
            </a:r>
            <a:endParaRPr lang="es-AR" dirty="0"/>
          </a:p>
        </p:txBody>
      </p:sp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1" name="10 CuadroTexto"/>
          <p:cNvSpPr txBox="1"/>
          <p:nvPr/>
        </p:nvSpPr>
        <p:spPr>
          <a:xfrm>
            <a:off x="1249679" y="2046488"/>
            <a:ext cx="9718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Ahora construimos el vector X y la función vectorial F(X):</a:t>
            </a:r>
            <a:endParaRPr lang="es-AR" dirty="0"/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4" name="13 CuadroTexto"/>
          <p:cNvSpPr txBox="1"/>
          <p:nvPr/>
        </p:nvSpPr>
        <p:spPr>
          <a:xfrm>
            <a:off x="1284512" y="3766427"/>
            <a:ext cx="9718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Luego calculamos de forma analítica las derivadas parciales de f1(x1,x2) y f2(x1,x2), para armar el </a:t>
            </a:r>
            <a:r>
              <a:rPr lang="es-AR" dirty="0" err="1" smtClean="0"/>
              <a:t>Jacobiano</a:t>
            </a:r>
            <a:r>
              <a:rPr lang="es-AR" dirty="0" smtClean="0"/>
              <a:t> de F(X):</a:t>
            </a:r>
            <a:endParaRPr lang="es-AR" dirty="0"/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pic>
        <p:nvPicPr>
          <p:cNvPr id="36865" name="Picture 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782387" y="2730137"/>
            <a:ext cx="1160145" cy="640080"/>
          </a:xfrm>
          <a:prstGeom prst="rect">
            <a:avLst/>
          </a:prstGeom>
          <a:noFill/>
        </p:spPr>
      </p:pic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277395" y="2664822"/>
            <a:ext cx="3778602" cy="627017"/>
          </a:xfrm>
          <a:prstGeom prst="rect">
            <a:avLst/>
          </a:prstGeom>
          <a:noFill/>
        </p:spPr>
      </p:pic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pic>
        <p:nvPicPr>
          <p:cNvPr id="36869" name="Picture 5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926079" y="4859381"/>
            <a:ext cx="4669971" cy="11756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77541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Rounded MT Bold" panose="020F0704030504030204" pitchFamily="34" charset="0"/>
              </a:rPr>
              <a:t>Ejemplo: Método de Newton-</a:t>
            </a:r>
            <a:r>
              <a:rPr lang="es-ES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Rounded MT Bold" panose="020F0704030504030204" pitchFamily="34" charset="0"/>
              </a:rPr>
              <a:t>Raphson</a:t>
            </a:r>
            <a:endParaRPr lang="es-AR" dirty="0">
              <a:solidFill>
                <a:schemeClr val="tx1">
                  <a:lumMod val="50000"/>
                  <a:lumOff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12" name="Tabla 1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40829176"/>
              </p:ext>
            </p:extLst>
          </p:nvPr>
        </p:nvGraphicFramePr>
        <p:xfrm>
          <a:off x="0" y="1324928"/>
          <a:ext cx="12192000" cy="19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397"/>
                <a:gridCol w="283335"/>
                <a:gridCol w="11419268"/>
              </a:tblGrid>
              <a:tr h="117506"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rgbClr val="E4D2F2"/>
                    </a:solidFill>
                  </a:tcPr>
                </a:tc>
              </a:tr>
            </a:tbl>
          </a:graphicData>
        </a:graphic>
      </p:graphicFrame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F797-1B48-4A88-892C-8BBF60BAA134}" type="slidenum">
              <a:rPr lang="es-AR" smtClean="0"/>
              <a:pPr/>
              <a:t>12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 smtClean="0"/>
              <a:t>Cálculo Numérico - Unidad 3</a:t>
            </a:r>
            <a:endParaRPr lang="es-AR" dirty="0"/>
          </a:p>
        </p:txBody>
      </p:sp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1" name="10 CuadroTexto"/>
          <p:cNvSpPr txBox="1"/>
          <p:nvPr/>
        </p:nvSpPr>
        <p:spPr>
          <a:xfrm>
            <a:off x="1249679" y="2046488"/>
            <a:ext cx="97187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Luego implementamos en </a:t>
            </a:r>
            <a:r>
              <a:rPr lang="es-AR" dirty="0" err="1" smtClean="0"/>
              <a:t>Scilab</a:t>
            </a:r>
            <a:r>
              <a:rPr lang="es-AR" dirty="0" smtClean="0"/>
              <a:t> un </a:t>
            </a:r>
            <a:r>
              <a:rPr lang="es-AR" dirty="0" err="1" smtClean="0"/>
              <a:t>scrip</a:t>
            </a:r>
            <a:r>
              <a:rPr lang="es-AR" dirty="0" smtClean="0"/>
              <a:t> que realice un determinado número de </a:t>
            </a:r>
            <a:r>
              <a:rPr lang="es-AR" dirty="0" err="1" smtClean="0"/>
              <a:t>interaciones</a:t>
            </a:r>
            <a:r>
              <a:rPr lang="es-AR" dirty="0" smtClean="0"/>
              <a:t> de Newton-</a:t>
            </a:r>
            <a:r>
              <a:rPr lang="es-AR" dirty="0" err="1" smtClean="0"/>
              <a:t>Raphson</a:t>
            </a:r>
            <a:r>
              <a:rPr lang="es-AR" dirty="0" smtClean="0"/>
              <a:t>:</a:t>
            </a:r>
          </a:p>
          <a:p>
            <a:endParaRPr lang="es-AR" dirty="0" smtClean="0"/>
          </a:p>
          <a:p>
            <a:endParaRPr lang="es-AR" dirty="0" smtClean="0"/>
          </a:p>
          <a:p>
            <a:r>
              <a:rPr lang="es-AR" b="1" dirty="0" smtClean="0"/>
              <a:t>Primer Paso</a:t>
            </a:r>
            <a:r>
              <a:rPr lang="es-AR" dirty="0" smtClean="0"/>
              <a:t>: Definición de F(X), </a:t>
            </a:r>
            <a:r>
              <a:rPr lang="es-AR" dirty="0" err="1" smtClean="0"/>
              <a:t>Jacobiano</a:t>
            </a:r>
            <a:r>
              <a:rPr lang="es-AR" dirty="0" smtClean="0"/>
              <a:t> </a:t>
            </a:r>
            <a:r>
              <a:rPr lang="es-AR" dirty="0" smtClean="0"/>
              <a:t>de F(X) y X inicial</a:t>
            </a:r>
            <a:endParaRPr lang="es-AR" dirty="0"/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pic>
        <p:nvPicPr>
          <p:cNvPr id="38918" name="Picture 6"/>
          <p:cNvPicPr>
            <a:picLocks noChangeAspect="1" noChangeArrowheads="1"/>
          </p:cNvPicPr>
          <p:nvPr/>
        </p:nvPicPr>
        <p:blipFill>
          <a:blip r:embed="rId3"/>
          <a:srcRect t="21339" r="71266" b="59864"/>
          <a:stretch>
            <a:fillRect/>
          </a:stretch>
        </p:blipFill>
        <p:spPr bwMode="auto">
          <a:xfrm>
            <a:off x="3783602" y="3958053"/>
            <a:ext cx="5327542" cy="19594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="" xmlns:p14="http://schemas.microsoft.com/office/powerpoint/2010/main" val="277541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Rounded MT Bold" panose="020F0704030504030204" pitchFamily="34" charset="0"/>
              </a:rPr>
              <a:t>Ejemplo: Método de Newton-</a:t>
            </a:r>
            <a:r>
              <a:rPr lang="es-ES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Rounded MT Bold" panose="020F0704030504030204" pitchFamily="34" charset="0"/>
              </a:rPr>
              <a:t>Raphson</a:t>
            </a:r>
            <a:endParaRPr lang="es-AR" dirty="0">
              <a:solidFill>
                <a:schemeClr val="tx1">
                  <a:lumMod val="50000"/>
                  <a:lumOff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12" name="Tabla 1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40829176"/>
              </p:ext>
            </p:extLst>
          </p:nvPr>
        </p:nvGraphicFramePr>
        <p:xfrm>
          <a:off x="0" y="1324928"/>
          <a:ext cx="12192000" cy="19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397"/>
                <a:gridCol w="283335"/>
                <a:gridCol w="11419268"/>
              </a:tblGrid>
              <a:tr h="117506"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rgbClr val="E4D2F2"/>
                    </a:solidFill>
                  </a:tcPr>
                </a:tc>
              </a:tr>
            </a:tbl>
          </a:graphicData>
        </a:graphic>
      </p:graphicFrame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F797-1B48-4A88-892C-8BBF60BAA134}" type="slidenum">
              <a:rPr lang="es-AR" smtClean="0"/>
              <a:pPr/>
              <a:t>13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 smtClean="0"/>
              <a:t>Cálculo Numérico - Unidad 3</a:t>
            </a:r>
            <a:endParaRPr lang="es-AR" dirty="0"/>
          </a:p>
        </p:txBody>
      </p:sp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1" name="10 CuadroTexto"/>
          <p:cNvSpPr txBox="1"/>
          <p:nvPr/>
        </p:nvSpPr>
        <p:spPr>
          <a:xfrm>
            <a:off x="1249679" y="2046488"/>
            <a:ext cx="9718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 smtClean="0"/>
              <a:t>Segundo Paso</a:t>
            </a:r>
            <a:r>
              <a:rPr lang="es-AR" dirty="0" smtClean="0"/>
              <a:t>: Definición de la formula iterativa de Newton-</a:t>
            </a:r>
            <a:r>
              <a:rPr lang="es-AR" dirty="0" err="1" smtClean="0"/>
              <a:t>Raphson</a:t>
            </a:r>
            <a:endParaRPr lang="es-AR" dirty="0"/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/>
          <a:srcRect l="1717" t="51090" r="84940" b="46249"/>
          <a:stretch>
            <a:fillRect/>
          </a:stretch>
        </p:blipFill>
        <p:spPr bwMode="auto">
          <a:xfrm>
            <a:off x="2638697" y="2873829"/>
            <a:ext cx="5477246" cy="6139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1" name="20 CuadroTexto"/>
          <p:cNvSpPr txBox="1"/>
          <p:nvPr/>
        </p:nvSpPr>
        <p:spPr>
          <a:xfrm>
            <a:off x="1271451" y="3818683"/>
            <a:ext cx="97187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Se deben tener dos cuestiones en cuenta sobre la formula anterior:</a:t>
            </a:r>
          </a:p>
          <a:p>
            <a:r>
              <a:rPr lang="es-AR" dirty="0" smtClean="0"/>
              <a:t>* La función </a:t>
            </a:r>
            <a:r>
              <a:rPr lang="es-AR" b="1" dirty="0" err="1" smtClean="0"/>
              <a:t>inv</a:t>
            </a:r>
            <a:r>
              <a:rPr lang="es-AR" b="1" dirty="0" smtClean="0"/>
              <a:t>()</a:t>
            </a:r>
            <a:r>
              <a:rPr lang="es-AR" dirty="0" smtClean="0"/>
              <a:t> realiza el calculo de la inversa de una matriz.</a:t>
            </a:r>
          </a:p>
          <a:p>
            <a:r>
              <a:rPr lang="es-AR" dirty="0" smtClean="0"/>
              <a:t>* La formula anterior calcula el nuevo valor X, y lo sobre escribe.</a:t>
            </a:r>
            <a:endParaRPr lang="es-AR" dirty="0"/>
          </a:p>
        </p:txBody>
      </p:sp>
    </p:spTree>
    <p:extLst>
      <p:ext uri="{BB962C8B-B14F-4D97-AF65-F5344CB8AC3E}">
        <p14:creationId xmlns="" xmlns:p14="http://schemas.microsoft.com/office/powerpoint/2010/main" val="277541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Rounded MT Bold" panose="020F0704030504030204" pitchFamily="34" charset="0"/>
              </a:rPr>
              <a:t>Ejemplo: Método de Newton-</a:t>
            </a:r>
            <a:r>
              <a:rPr lang="es-ES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Rounded MT Bold" panose="020F0704030504030204" pitchFamily="34" charset="0"/>
              </a:rPr>
              <a:t>Raphson</a:t>
            </a:r>
            <a:endParaRPr lang="es-AR" dirty="0">
              <a:solidFill>
                <a:schemeClr val="tx1">
                  <a:lumMod val="50000"/>
                  <a:lumOff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12" name="Tabla 1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40829176"/>
              </p:ext>
            </p:extLst>
          </p:nvPr>
        </p:nvGraphicFramePr>
        <p:xfrm>
          <a:off x="0" y="1324928"/>
          <a:ext cx="12192000" cy="19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397"/>
                <a:gridCol w="283335"/>
                <a:gridCol w="11419268"/>
              </a:tblGrid>
              <a:tr h="117506"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700" dirty="0"/>
                    </a:p>
                  </a:txBody>
                  <a:tcPr>
                    <a:solidFill>
                      <a:srgbClr val="E4D2F2"/>
                    </a:solidFill>
                  </a:tcPr>
                </a:tc>
              </a:tr>
            </a:tbl>
          </a:graphicData>
        </a:graphic>
      </p:graphicFrame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F797-1B48-4A88-892C-8BBF60BAA134}" type="slidenum">
              <a:rPr lang="es-AR" smtClean="0"/>
              <a:pPr/>
              <a:t>14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 smtClean="0"/>
              <a:t>Cálculo Numérico - Unidad 3</a:t>
            </a:r>
            <a:endParaRPr lang="es-AR" dirty="0"/>
          </a:p>
        </p:txBody>
      </p:sp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1" name="10 CuadroTexto"/>
          <p:cNvSpPr txBox="1"/>
          <p:nvPr/>
        </p:nvSpPr>
        <p:spPr>
          <a:xfrm>
            <a:off x="2360021" y="2699627"/>
            <a:ext cx="30218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 smtClean="0"/>
              <a:t>Tercer Paso</a:t>
            </a:r>
            <a:r>
              <a:rPr lang="es-AR" dirty="0" smtClean="0"/>
              <a:t>: Utilizar la formula anterior para la realización de iteraciones hasta que X converja a la solución.</a:t>
            </a:r>
          </a:p>
          <a:p>
            <a:endParaRPr lang="es-AR" dirty="0" smtClean="0"/>
          </a:p>
          <a:p>
            <a:r>
              <a:rPr lang="es-AR" dirty="0" smtClean="0"/>
              <a:t>En este caso se realizan </a:t>
            </a:r>
            <a:r>
              <a:rPr lang="es-AR" b="1" dirty="0" smtClean="0"/>
              <a:t>4</a:t>
            </a:r>
            <a:r>
              <a:rPr lang="es-AR" dirty="0" smtClean="0"/>
              <a:t> iteraciones hasta que se obtiene una convergencia en </a:t>
            </a:r>
            <a:r>
              <a:rPr lang="es-AR" b="1" dirty="0" smtClean="0"/>
              <a:t>X = [1; 0]</a:t>
            </a:r>
            <a:endParaRPr lang="es-AR" b="1" dirty="0"/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3"/>
          <a:srcRect t="15536" r="68174" b="17143"/>
          <a:stretch>
            <a:fillRect/>
          </a:stretch>
        </p:blipFill>
        <p:spPr bwMode="auto">
          <a:xfrm>
            <a:off x="6374663" y="1515291"/>
            <a:ext cx="4140926" cy="49246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="" xmlns:p14="http://schemas.microsoft.com/office/powerpoint/2010/main" val="277541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3681</TotalTime>
  <Words>586</Words>
  <Application>Microsoft Office PowerPoint</Application>
  <PresentationFormat>Personalizado</PresentationFormat>
  <Paragraphs>86</Paragraphs>
  <Slides>14</Slides>
  <Notes>14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Tema de Office</vt:lpstr>
      <vt:lpstr>Facultad de Ciencias Económicas y de la Administración  Ingeniería en Sistemas de la Información   Cálculo Numérico Unidad 3 </vt:lpstr>
      <vt:lpstr>Cálculo Numérico - Contenidos</vt:lpstr>
      <vt:lpstr>Sistemas de Ecuaciones</vt:lpstr>
      <vt:lpstr>Sistemas de Ecuaciones No Lineales</vt:lpstr>
      <vt:lpstr>Sistemas de Ecuaciones No Lineales</vt:lpstr>
      <vt:lpstr>Método de Newton-Raphson</vt:lpstr>
      <vt:lpstr>Método de Newton-Raphson</vt:lpstr>
      <vt:lpstr>Método de Newton-Raphson</vt:lpstr>
      <vt:lpstr>Jacobiano</vt:lpstr>
      <vt:lpstr>Ejemplo: Método de Newton-Raphson</vt:lpstr>
      <vt:lpstr>Ejemplo: Método de Newton-Raphson</vt:lpstr>
      <vt:lpstr>Ejemplo: Método de Newton-Raphson</vt:lpstr>
      <vt:lpstr>Ejemplo: Método de Newton-Raphson</vt:lpstr>
      <vt:lpstr>Ejemplo: Método de Newton-Raphson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Facultad de Ciencias de la Vida y la Salud Licenciatura en Higiene y Seguridad Laboral                                           Estadística General Sede Ramírez</dc:title>
  <dc:creator>Ceci Lell</dc:creator>
  <cp:lastModifiedBy>notebook</cp:lastModifiedBy>
  <cp:revision>133</cp:revision>
  <cp:lastPrinted>2017-12-06T09:39:14Z</cp:lastPrinted>
  <dcterms:created xsi:type="dcterms:W3CDTF">2017-12-04T22:20:57Z</dcterms:created>
  <dcterms:modified xsi:type="dcterms:W3CDTF">2020-04-06T21:22:18Z</dcterms:modified>
</cp:coreProperties>
</file>